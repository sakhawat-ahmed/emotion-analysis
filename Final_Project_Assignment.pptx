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notesSlides/notesSlide11.xml" ContentType="application/vnd.openxmlformats-officedocument.presentationml.notesSlide+xml"/>
  <Override PartName="/ppt/tags/tag6.xml" ContentType="application/vnd.openxmlformats-officedocument.presentationml.tags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notesSlides/notesSlide13.xml" ContentType="application/vnd.openxmlformats-officedocument.presentationml.notesSlide+xml"/>
  <Override PartName="/ppt/tags/tag8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727" r:id="rId2"/>
    <p:sldId id="786" r:id="rId3"/>
    <p:sldId id="788" r:id="rId4"/>
    <p:sldId id="794" r:id="rId5"/>
    <p:sldId id="796" r:id="rId6"/>
    <p:sldId id="795" r:id="rId7"/>
    <p:sldId id="789" r:id="rId8"/>
    <p:sldId id="790" r:id="rId9"/>
    <p:sldId id="791" r:id="rId10"/>
    <p:sldId id="797" r:id="rId11"/>
    <p:sldId id="799" r:id="rId12"/>
    <p:sldId id="801" r:id="rId13"/>
    <p:sldId id="802" r:id="rId14"/>
    <p:sldId id="803" r:id="rId15"/>
    <p:sldId id="804" r:id="rId16"/>
    <p:sldId id="972" r:id="rId17"/>
  </p:sldIdLst>
  <p:sldSz cx="9144000" cy="5143500" type="screen16x9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2E6"/>
    <a:srgbClr val="8DA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2830" autoAdjust="0"/>
  </p:normalViewPr>
  <p:slideViewPr>
    <p:cSldViewPr showGuides="1">
      <p:cViewPr varScale="1">
        <p:scale>
          <a:sx n="68" d="100"/>
          <a:sy n="68" d="100"/>
        </p:scale>
        <p:origin x="64" y="6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-12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Tx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Tx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Tx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E428DC-E68F-2F4A-881A-859CF1A541F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Tx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Tx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Tx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0B5440-6B4B-5241-BF93-5B22A5E1E86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1BDE3-E2AA-05BE-5835-F3D70964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8EABA1AB-B189-F582-65A0-9E235D52D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1B7FFE3-A04B-2D4D-AD94-35CB02067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A5C4BF-DF2E-80DA-A1E1-7F211B936A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3553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1D56F-9B45-EDC9-BFA8-252C374A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AE29682-9AD7-9CFE-47F8-C550B2123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66BE52A-D70F-334E-F7EC-BEE165320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A3D343-FECD-0FDF-6EA7-80F5A8805A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3378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0763E-52C4-3FA5-5787-8741C5BD5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0E89BEB-45C3-FF55-2C7F-E57ADBAED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4E3294-CF73-25CF-F3DE-7EF2C7C07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D0CAFE-0895-D252-68C3-AF0518872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4074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66A8-FF27-E2D3-3A55-12A704A09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7D4B39DD-1849-4908-3698-DA02B970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36D4D1-D050-6A60-B616-845048047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B85E1C-CF3F-E314-8FEE-1E8255A31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9481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C26AE-D0C1-26C5-1B64-419BC3E2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3EDE6F4-E342-F721-EFF9-579B7CA38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211A289-4FE3-F517-FFA4-883AD26AA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4B51A0-9F91-E8D2-1EE6-D6762B1239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5011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0156-51F9-EE29-90EE-6F76BAF38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0A70CC6-EEF6-8038-32CB-BCCD2E030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0879341-DB0F-32D7-8857-454842CBB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A974C7-CF7C-0299-85C3-15CB2992C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87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759A-6E80-13DF-4EE5-620F3BBA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E427791-EEFB-9FE3-A847-6F53C0D1C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FFAD181-6612-0B97-D2C7-7912F69FA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873B2-A718-F768-B7A6-238F6E2D85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4077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8FE06-60FB-5CEC-F48D-CC625DBD3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23D07B1-D069-F664-F2B4-17EA04FB4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C3DBD2D-0264-1A7C-F7F7-285899DEB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DA6D56-6DF0-FEAA-EEF0-F33B75678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9570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D16F-5A54-1E5B-D429-C3EA08E9B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0563DCB-9594-05ED-FA6F-D1291E4CE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3190C8A-3E93-B0FA-A4B1-EF8146BB0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4A062B-5070-C988-93BB-F7715F1C55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8572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776C6-9CCC-3847-3D5C-581375304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B441D4B-0AA9-8A4B-21C7-0527761BB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2914CF4-5DF4-C545-0DC8-E2D8D48C8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DBC83-6847-4738-EE80-338FD18BD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831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9A4D-0654-6BAF-FA2A-AC42F1268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A3BA8E5-6F42-5B6B-8C7C-5D58D1BE0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2C382D9-9BB1-A76D-CD8A-42D41D5E2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56BA7D-1C55-CD87-0181-874F0450CA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317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BF3F1-6051-3AAB-0B79-8BAF5FC65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B4FE0209-6E91-DAA8-6390-D72F7163E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C0A222D-A87A-7B5A-A4A0-2B5AA222E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A75F72-6CB5-CD6C-6F71-AFBD6AD8E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883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D1D70-B7D3-C12C-72EF-7C207F87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78D67504-C3C2-6CE3-B5E6-3001C4B03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1B30C65-798B-A6E9-0BAD-38E1C69A7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FF366B-1121-7335-6C6A-84538C2E9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500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1885B-1FD2-3D75-5406-1A642F250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AC5181A2-0681-3986-6160-7F94579F5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BEBFE6E-017C-540D-0FFD-C6FB70E6D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ED6505-0CE6-5AF2-6529-9E3EC0BB8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DAE2-1044-44AA-8E16-BB9FD2E2B3C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66990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588" y="257175"/>
            <a:ext cx="8229957" cy="428625"/>
          </a:xfrm>
          <a:effectLst>
            <a:outerShdw blurRad="50800" dist="38100" dir="5400000" algn="ctr" rotWithShape="0">
              <a:srgbClr val="000000">
                <a:alpha val="30000"/>
              </a:srgbClr>
            </a:outerShdw>
          </a:effectLst>
        </p:spPr>
        <p:txBody>
          <a:bodyPr>
            <a:normAutofit/>
          </a:bodyPr>
          <a:lstStyle>
            <a:lvl1pPr>
              <a:defRPr sz="2400" b="1" i="0" baseline="0">
                <a:solidFill>
                  <a:srgbClr val="C00000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257175"/>
            <a:ext cx="128588" cy="4286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rgbClr val="C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1009-1D3C-4C47-997A-E65007F4DBC6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4FF10-94A0-439F-A5B0-76E295808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66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29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63525"/>
            <a:ext cx="1295400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/>
          <p:cNvSpPr/>
          <p:nvPr userDrawn="1"/>
        </p:nvSpPr>
        <p:spPr bwMode="auto">
          <a:xfrm>
            <a:off x="8167688" y="5049838"/>
            <a:ext cx="976312" cy="93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矩形 22"/>
          <p:cNvSpPr>
            <a:spLocks noChangeArrowheads="1"/>
          </p:cNvSpPr>
          <p:nvPr userDrawn="1"/>
        </p:nvSpPr>
        <p:spPr bwMode="auto">
          <a:xfrm>
            <a:off x="0" y="5049838"/>
            <a:ext cx="8101013" cy="9366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205" y="81915"/>
            <a:ext cx="1816735" cy="4953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5AA01B4-D6BF-CEA5-1564-EC75CC7CEB17}"/>
              </a:ext>
            </a:extLst>
          </p:cNvPr>
          <p:cNvSpPr/>
          <p:nvPr userDrawn="1"/>
        </p:nvSpPr>
        <p:spPr>
          <a:xfrm>
            <a:off x="0" y="589757"/>
            <a:ext cx="5580112" cy="93662"/>
          </a:xfrm>
          <a:custGeom>
            <a:avLst/>
            <a:gdLst>
              <a:gd name="connsiteX0" fmla="*/ 0 w 5580112"/>
              <a:gd name="connsiteY0" fmla="*/ 0 h 93662"/>
              <a:gd name="connsiteX1" fmla="*/ 5580112 w 5580112"/>
              <a:gd name="connsiteY1" fmla="*/ 0 h 93662"/>
              <a:gd name="connsiteX2" fmla="*/ 5580112 w 5580112"/>
              <a:gd name="connsiteY2" fmla="*/ 93662 h 93662"/>
              <a:gd name="connsiteX3" fmla="*/ 0 w 5580112"/>
              <a:gd name="connsiteY3" fmla="*/ 93662 h 93662"/>
              <a:gd name="connsiteX4" fmla="*/ 0 w 5580112"/>
              <a:gd name="connsiteY4" fmla="*/ 0 h 93662"/>
              <a:gd name="connsiteX0" fmla="*/ 0 w 5580112"/>
              <a:gd name="connsiteY0" fmla="*/ 0 h 93662"/>
              <a:gd name="connsiteX1" fmla="*/ 5114599 w 5580112"/>
              <a:gd name="connsiteY1" fmla="*/ 0 h 93662"/>
              <a:gd name="connsiteX2" fmla="*/ 5580112 w 5580112"/>
              <a:gd name="connsiteY2" fmla="*/ 93662 h 93662"/>
              <a:gd name="connsiteX3" fmla="*/ 0 w 5580112"/>
              <a:gd name="connsiteY3" fmla="*/ 93662 h 93662"/>
              <a:gd name="connsiteX4" fmla="*/ 0 w 5580112"/>
              <a:gd name="connsiteY4" fmla="*/ 0 h 93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0112" h="93662">
                <a:moveTo>
                  <a:pt x="0" y="0"/>
                </a:moveTo>
                <a:lnTo>
                  <a:pt x="5114599" y="0"/>
                </a:lnTo>
                <a:lnTo>
                  <a:pt x="5580112" y="93662"/>
                </a:lnTo>
                <a:lnTo>
                  <a:pt x="0" y="9366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b="1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b="1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4B98-D4EC-492F-4805-6B8075498E9B}"/>
              </a:ext>
            </a:extLst>
          </p:cNvPr>
          <p:cNvSpPr txBox="1">
            <a:spLocks/>
          </p:cNvSpPr>
          <p:nvPr/>
        </p:nvSpPr>
        <p:spPr>
          <a:xfrm>
            <a:off x="1403648" y="1167278"/>
            <a:ext cx="6245051" cy="151216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algn="ctr"/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Machine Learning</a:t>
            </a:r>
            <a:endParaRPr lang="en-US" sz="4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BED16-C814-6BE8-52F4-DF234B86B703}"/>
              </a:ext>
            </a:extLst>
          </p:cNvPr>
          <p:cNvSpPr txBox="1">
            <a:spLocks/>
          </p:cNvSpPr>
          <p:nvPr/>
        </p:nvSpPr>
        <p:spPr>
          <a:xfrm>
            <a:off x="1781688" y="1995686"/>
            <a:ext cx="558062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3200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 dirty="0"/>
          </a:p>
          <a:p>
            <a:pPr marL="0" indent="0" algn="ctr"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Autumn 2025 semester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6AEDBDE-2327-EC87-FB12-245FB5B8EE85}"/>
              </a:ext>
            </a:extLst>
          </p:cNvPr>
          <p:cNvSpPr txBox="1">
            <a:spLocks/>
          </p:cNvSpPr>
          <p:nvPr/>
        </p:nvSpPr>
        <p:spPr>
          <a:xfrm>
            <a:off x="1781688" y="3796097"/>
            <a:ext cx="5580621" cy="86367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3200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3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Hanyuan</a:t>
            </a:r>
            <a:r>
              <a:rPr lang="en-US" altLang="zh-CN" sz="23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Wang </a:t>
            </a:r>
          </a:p>
          <a:p>
            <a:pPr marL="0" indent="0" algn="ctr">
              <a:buNone/>
            </a:pPr>
            <a:r>
              <a:rPr lang="en-US" altLang="zh-C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hanyuanwang5@outlook.com </a:t>
            </a:r>
            <a:endParaRPr lang="en-US" altLang="zh-C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6C062-BE04-3764-B4DE-16AA00FB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704E0F7E-A4C5-B900-5871-35750B24C336}"/>
              </a:ext>
            </a:extLst>
          </p:cNvPr>
          <p:cNvSpPr txBox="1"/>
          <p:nvPr/>
        </p:nvSpPr>
        <p:spPr>
          <a:xfrm>
            <a:off x="2058" y="123478"/>
            <a:ext cx="575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4EFEE9-DBB2-8077-AD8B-15274A29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699542"/>
            <a:ext cx="8856984" cy="22716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dirty="0">
                <a:sym typeface="+mn-ea"/>
              </a:rPr>
              <a:t>Build a classifier using recurrent neural network models to recognize positive and negative emotions in text. After training, the model should output probability values for positive/negative sentiment .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dirty="0">
                <a:sym typeface="+mn-ea"/>
              </a:rPr>
              <a:t>During the presentation, the teacher will provide a sentence for 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live demonstration </a:t>
            </a:r>
            <a:r>
              <a:rPr lang="en-US" altLang="zh-CN" dirty="0">
                <a:sym typeface="+mn-ea"/>
              </a:rPr>
              <a:t>of the program's prediction.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8D9EAC-200B-BD5A-5BCA-338D047153A0}"/>
              </a:ext>
            </a:extLst>
          </p:cNvPr>
          <p:cNvSpPr txBox="1"/>
          <p:nvPr/>
        </p:nvSpPr>
        <p:spPr>
          <a:xfrm>
            <a:off x="755576" y="3085589"/>
            <a:ext cx="8136904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For example, the sentence to be predicted provided by the teacher is "I like reading." </a:t>
            </a:r>
          </a:p>
          <a:p>
            <a:endParaRPr lang="en-US" altLang="zh-CN" dirty="0"/>
          </a:p>
          <a:p>
            <a:r>
              <a:rPr lang="en-US" altLang="zh-CN" dirty="0"/>
              <a:t>I expect your model to output:</a:t>
            </a:r>
          </a:p>
          <a:p>
            <a:r>
              <a:rPr lang="en-US" altLang="zh-CN" dirty="0"/>
              <a:t>Level1: RNN prediction result: positive, score: 0.61676633.</a:t>
            </a:r>
          </a:p>
          <a:p>
            <a:r>
              <a:rPr lang="en-US" altLang="zh-CN" dirty="0"/>
              <a:t>Level2: LSTM prediction result: positive, score: 0.7692368.</a:t>
            </a:r>
          </a:p>
          <a:p>
            <a:r>
              <a:rPr lang="en-US" altLang="zh-CN" dirty="0"/>
              <a:t>Level3: GRU prediction result: positive, score: 0.7972771.</a:t>
            </a:r>
          </a:p>
        </p:txBody>
      </p:sp>
    </p:spTree>
    <p:extLst>
      <p:ext uri="{BB962C8B-B14F-4D97-AF65-F5344CB8AC3E}">
        <p14:creationId xmlns:p14="http://schemas.microsoft.com/office/powerpoint/2010/main" val="41232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B3035-19E2-44A4-1B6A-95FA931E4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F7025D2C-B536-71FB-17F0-20630D2A427E}"/>
              </a:ext>
            </a:extLst>
          </p:cNvPr>
          <p:cNvSpPr txBox="1"/>
          <p:nvPr/>
        </p:nvSpPr>
        <p:spPr>
          <a:xfrm>
            <a:off x="2058" y="123478"/>
            <a:ext cx="575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9B4EFF-E567-AF0A-27E3-E6C3C3C46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910276"/>
            <a:ext cx="8568952" cy="3659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ym typeface="+mn-ea"/>
              </a:rPr>
              <a:t>This project uses the Sentiment140 dataset for emotion analysis. It contains 1.6 million labeled tweets for sentiment detection.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000" dirty="0">
              <a:sym typeface="+mn-ea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ym typeface="+mn-ea"/>
              </a:rPr>
              <a:t>The model in this example initializes its embedding layer with pre-trained word vectors from Stanford NLP's </a:t>
            </a:r>
            <a:r>
              <a:rPr lang="en-US" altLang="zh-CN" sz="2000" dirty="0" err="1">
                <a:sym typeface="+mn-ea"/>
              </a:rPr>
              <a:t>GloVe</a:t>
            </a:r>
            <a:r>
              <a:rPr lang="en-US" altLang="zh-CN" sz="2000" dirty="0">
                <a:sym typeface="+mn-ea"/>
              </a:rPr>
              <a:t> dataset. Specifically, it uses the 300-dimensional version glove.6B.300d.txt, which contains 4 million vocabulary words trained through word co-occurrence matrices.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000" dirty="0">
              <a:sym typeface="+mn-ea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C00000"/>
                </a:solidFill>
                <a:sym typeface="+mn-ea"/>
              </a:rPr>
              <a:t>All dataset files are </a:t>
            </a:r>
            <a:r>
              <a:rPr lang="en-US" altLang="zh-CN" sz="2000" dirty="0">
                <a:solidFill>
                  <a:srgbClr val="C00000"/>
                </a:solidFill>
              </a:rPr>
              <a:t>included in the zip file</a:t>
            </a:r>
            <a:endParaRPr lang="en-US" altLang="zh-CN" sz="2000" dirty="0">
              <a:solidFill>
                <a:srgbClr val="C00000"/>
              </a:solidFill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201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262C9-4ADE-41D1-7277-FFE3F839E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5A86DB1E-FD86-4BAE-3BD9-E48EF74CE8A9}"/>
              </a:ext>
            </a:extLst>
          </p:cNvPr>
          <p:cNvSpPr txBox="1"/>
          <p:nvPr/>
        </p:nvSpPr>
        <p:spPr>
          <a:xfrm>
            <a:off x="2058" y="123478"/>
            <a:ext cx="575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6EA219-97ED-677E-A928-E9F6CB9EA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20070"/>
            <a:ext cx="8568952" cy="29033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Levels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Level 1 (Basic Requirement) </a:t>
            </a:r>
            <a:r>
              <a:rPr lang="en-US" altLang="zh-CN" b="1" dirty="0">
                <a:solidFill>
                  <a:srgbClr val="C00000"/>
                </a:solidFill>
              </a:rPr>
              <a:t>(Required):</a:t>
            </a:r>
            <a:endParaRPr lang="en-US" altLang="zh-CN" dirty="0">
              <a:solidFill>
                <a:srgbClr val="C0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Implement an RNN model to complete the task.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Plot the training &amp; validation loss curves, calculate test accuracy, and present a Confusion Matrix.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Perform a basic error analysis: provide examples of sentences your model classified correctly and incorrectly, and hypothesize why.</a:t>
            </a:r>
          </a:p>
        </p:txBody>
      </p:sp>
    </p:spTree>
    <p:extLst>
      <p:ext uri="{BB962C8B-B14F-4D97-AF65-F5344CB8AC3E}">
        <p14:creationId xmlns:p14="http://schemas.microsoft.com/office/powerpoint/2010/main" val="2067645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AFBEF-6017-CF8B-0D0F-368D74FB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03C930B-5D95-A555-2F27-E237F91F0BEC}"/>
              </a:ext>
            </a:extLst>
          </p:cNvPr>
          <p:cNvSpPr txBox="1"/>
          <p:nvPr/>
        </p:nvSpPr>
        <p:spPr>
          <a:xfrm>
            <a:off x="2058" y="123478"/>
            <a:ext cx="575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BF0FE4-5B5A-D468-608B-01F5E3EB2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5566"/>
            <a:ext cx="8568952" cy="37343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Levels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Level 2 (Intermediate Challenge) </a:t>
            </a:r>
            <a:r>
              <a:rPr lang="en-US" altLang="zh-CN" b="1" dirty="0">
                <a:solidFill>
                  <a:srgbClr val="C00000"/>
                </a:solidFill>
              </a:rPr>
              <a:t>(Optional):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Fulfill all requirements of Level 1 with an RNN model.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Additionally, implement an LSTM model to complete the task (with loss curves, accuracy, and Confusion Matrix).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/>
              <a:t>Compare and contrast</a:t>
            </a:r>
            <a:r>
              <a:rPr lang="en-US" altLang="zh-CN" dirty="0"/>
              <a:t> the RNN and LSTM models. Which one performs better and why? Discuss in the context of the models' architectures (e.g., vanishing gradient problem). Use multiple evaluation metrics (Accuracy, F1-Score) for a fair comparison.</a:t>
            </a:r>
          </a:p>
        </p:txBody>
      </p:sp>
    </p:spTree>
    <p:extLst>
      <p:ext uri="{BB962C8B-B14F-4D97-AF65-F5344CB8AC3E}">
        <p14:creationId xmlns:p14="http://schemas.microsoft.com/office/powerpoint/2010/main" val="2042157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51706-8CC6-B2CA-7D87-9683540E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756636C6-A16E-1DC4-EAAF-E7035D0DBAFD}"/>
              </a:ext>
            </a:extLst>
          </p:cNvPr>
          <p:cNvSpPr txBox="1"/>
          <p:nvPr/>
        </p:nvSpPr>
        <p:spPr>
          <a:xfrm>
            <a:off x="2058" y="123478"/>
            <a:ext cx="575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4AC8B-1BC5-E458-CA6C-BBA7BC3D7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4" y="699542"/>
            <a:ext cx="8568952" cy="41498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Levels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Level 3 (Advanced Challenge) </a:t>
            </a:r>
            <a:r>
              <a:rPr lang="en-US" altLang="zh-CN" b="1" dirty="0">
                <a:solidFill>
                  <a:srgbClr val="C00000"/>
                </a:solidFill>
              </a:rPr>
              <a:t>(Optional) </a:t>
            </a:r>
            <a:r>
              <a:rPr lang="en-US" altLang="zh-CN" b="1" dirty="0"/>
              <a:t>: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Fulfill all requirements of Level 2 with both RNN and LSTM models.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Additionally, implement a GRU model to complete the task (with loss curves, accuracy, and Confusion Matrix).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/>
              <a:t>Comprehensive Analysis:</a:t>
            </a:r>
            <a:r>
              <a:rPr lang="en-US" altLang="zh-CN" dirty="0"/>
              <a:t> Conduct a thorough comparison of RNN, LSTM, and GRU models. Evaluate them based on </a:t>
            </a:r>
            <a:r>
              <a:rPr lang="en-US" altLang="zh-CN" b="1" dirty="0"/>
              <a:t>performance metrics, training time (efficiency), and model complexity (number of parameters)</a:t>
            </a:r>
            <a:r>
              <a:rPr lang="en-US" altLang="zh-CN" dirty="0"/>
              <a:t>. Conclude which model offers the best trade-off for this specific sentiment analysis task.</a:t>
            </a:r>
          </a:p>
        </p:txBody>
      </p:sp>
    </p:spTree>
    <p:extLst>
      <p:ext uri="{BB962C8B-B14F-4D97-AF65-F5344CB8AC3E}">
        <p14:creationId xmlns:p14="http://schemas.microsoft.com/office/powerpoint/2010/main" val="372202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998F-3110-5868-A9D4-4E1050BBF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B8421A67-C958-82CB-F7AF-EE89D1EC76F5}"/>
              </a:ext>
            </a:extLst>
          </p:cNvPr>
          <p:cNvSpPr txBox="1"/>
          <p:nvPr/>
        </p:nvSpPr>
        <p:spPr>
          <a:xfrm>
            <a:off x="2058" y="123478"/>
            <a:ext cx="575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9A7934-3E69-54E0-0628-662230303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17983"/>
            <a:ext cx="8568952" cy="337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Toolkits 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CC91F5-CDF2-9D22-5F16-2A64CDC8DE9D}"/>
              </a:ext>
            </a:extLst>
          </p:cNvPr>
          <p:cNvSpPr txBox="1"/>
          <p:nvPr/>
        </p:nvSpPr>
        <p:spPr>
          <a:xfrm>
            <a:off x="1259632" y="2418194"/>
            <a:ext cx="6876256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import tensorflow as tf </a:t>
            </a:r>
          </a:p>
          <a:p>
            <a:r>
              <a:rPr lang="zh-CN" altLang="en-US" dirty="0"/>
              <a:t>import matplotlib.pyplot as plt </a:t>
            </a:r>
          </a:p>
          <a:p>
            <a:r>
              <a:rPr lang="zh-CN" altLang="en-US" dirty="0"/>
              <a:t>import numpy as np </a:t>
            </a:r>
          </a:p>
          <a:p>
            <a:r>
              <a:rPr lang="zh-CN" altLang="en-US" dirty="0"/>
              <a:t>import pandas as pd </a:t>
            </a:r>
          </a:p>
          <a:p>
            <a:r>
              <a:rPr lang="zh-CN" altLang="en-US" dirty="0"/>
              <a:t>import nltk </a:t>
            </a:r>
          </a:p>
          <a:p>
            <a:r>
              <a:rPr lang="zh-CN" altLang="en-US" dirty="0"/>
              <a:t>import os </a:t>
            </a:r>
          </a:p>
          <a:p>
            <a:r>
              <a:rPr lang="zh-CN" altLang="en-US" dirty="0"/>
              <a:t>nltk.data.path.append(os.path.join(os.getcwd(), 'nltk_data')) </a:t>
            </a:r>
          </a:p>
          <a:p>
            <a:r>
              <a:rPr lang="zh-CN" altLang="en-US" dirty="0"/>
              <a:t>from nltk.corpus import stopwords </a:t>
            </a:r>
          </a:p>
          <a:p>
            <a:r>
              <a:rPr lang="zh-CN" altLang="en-US" dirty="0"/>
              <a:t>from nltk.stem import SnowballStemmer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BE70B9-7383-9D07-8E48-08F12CC7D277}"/>
              </a:ext>
            </a:extLst>
          </p:cNvPr>
          <p:cNvSpPr txBox="1"/>
          <p:nvPr/>
        </p:nvSpPr>
        <p:spPr>
          <a:xfrm>
            <a:off x="1259632" y="1585521"/>
            <a:ext cx="687625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 err="1"/>
              <a:t>conda</a:t>
            </a:r>
            <a:r>
              <a:rPr lang="en-US" altLang="zh-CN" dirty="0"/>
              <a:t> install </a:t>
            </a:r>
            <a:r>
              <a:rPr lang="en-US" altLang="zh-CN" dirty="0" err="1"/>
              <a:t>tensorflow</a:t>
            </a:r>
            <a:endParaRPr lang="en-US" altLang="zh-C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8EC58E3-F905-8E94-DD6D-E57E2B848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68" y="1146230"/>
            <a:ext cx="8568952" cy="337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491AAE-15D2-BBBF-2170-1708D50792D1}"/>
              </a:ext>
            </a:extLst>
          </p:cNvPr>
          <p:cNvSpPr txBox="1"/>
          <p:nvPr/>
        </p:nvSpPr>
        <p:spPr>
          <a:xfrm>
            <a:off x="15658" y="695015"/>
            <a:ext cx="7134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Code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Data Loading and Preprocessing: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535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EB3C3-1D96-16C9-61DD-B0C304632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DF44E42A-EEE3-CF51-4B16-371B0D6FB369}"/>
              </a:ext>
            </a:extLst>
          </p:cNvPr>
          <p:cNvSpPr txBox="1"/>
          <p:nvPr/>
        </p:nvSpPr>
        <p:spPr>
          <a:xfrm>
            <a:off x="2058" y="123478"/>
            <a:ext cx="575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60068C-D6AB-5728-1CED-0EFC7AF19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680520"/>
            <a:ext cx="3600400" cy="337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Preprocess Dataset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2167020-C058-8E16-6FE4-4A24515BA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75606"/>
            <a:ext cx="10969200" cy="4759200"/>
          </a:xfrm>
        </p:spPr>
        <p:txBody>
          <a:bodyPr/>
          <a:lstStyle/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000" dirty="0"/>
              <a:t>         </a:t>
            </a: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62518A-D6F8-FDB4-B4E2-9B8399D2B00C}"/>
              </a:ext>
            </a:extLst>
          </p:cNvPr>
          <p:cNvSpPr txBox="1"/>
          <p:nvPr/>
        </p:nvSpPr>
        <p:spPr>
          <a:xfrm>
            <a:off x="431540" y="1419306"/>
            <a:ext cx="8280920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from sklearn.model_selection import train_test_split </a:t>
            </a:r>
          </a:p>
          <a:p>
            <a:r>
              <a:rPr lang="zh-CN" altLang="en-US" sz="1600" dirty="0"/>
              <a:t>from sklearn.preprocessing import LabelEncoder </a:t>
            </a:r>
          </a:p>
          <a:p>
            <a:r>
              <a:rPr lang="zh-CN" altLang="en-US" sz="1600" dirty="0"/>
              <a:t>dataset = pd.read_csv("training.1600000.processed.noemoticon.csv", engine = "python", header=None) </a:t>
            </a:r>
          </a:p>
          <a:p>
            <a:r>
              <a:rPr lang="zh-CN" altLang="en-US" sz="1600" dirty="0"/>
              <a:t># </a:t>
            </a:r>
            <a:r>
              <a:rPr lang="en-US" altLang="zh-CN" sz="1600" dirty="0"/>
              <a:t>Reset headers for the dataset</a:t>
            </a:r>
            <a:endParaRPr lang="zh-CN" altLang="en-US" sz="1600" dirty="0"/>
          </a:p>
          <a:p>
            <a:r>
              <a:rPr lang="zh-CN" altLang="en-US" sz="1600" dirty="0"/>
              <a:t>dataset.columns = ['sentiment', 'id', 'date', 'query', 'user_id', 'text'] </a:t>
            </a:r>
          </a:p>
          <a:p>
            <a:r>
              <a:rPr lang="zh-CN" altLang="en-US" sz="1600" dirty="0"/>
              <a:t># </a:t>
            </a:r>
            <a:r>
              <a:rPr lang="en-US" altLang="zh-CN" sz="1600" dirty="0"/>
              <a:t>Drop useless columns vertically</a:t>
            </a:r>
            <a:endParaRPr lang="zh-CN" altLang="en-US" sz="1600" dirty="0"/>
          </a:p>
          <a:p>
            <a:r>
              <a:rPr lang="zh-CN" altLang="en-US" sz="1600" dirty="0"/>
              <a:t>df = dataset.drop(['id', 'date', 'query', 'user_id'], axis=1) </a:t>
            </a:r>
          </a:p>
          <a:p>
            <a:r>
              <a:rPr lang="zh-CN" altLang="en-US" sz="1600" dirty="0"/>
              <a:t># </a:t>
            </a:r>
            <a:r>
              <a:rPr lang="en-US" altLang="zh-CN" sz="1600" dirty="0"/>
              <a:t>Check Label Categories</a:t>
            </a:r>
            <a:endParaRPr lang="zh-CN" altLang="en-US" sz="1600" dirty="0"/>
          </a:p>
          <a:p>
            <a:r>
              <a:rPr lang="zh-CN" altLang="en-US" sz="1600" dirty="0"/>
              <a:t>df['sentiment'].value_counts()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658E2C-733F-FD1F-F20B-8B92CFBB9789}"/>
              </a:ext>
            </a:extLst>
          </p:cNvPr>
          <p:cNvSpPr txBox="1"/>
          <p:nvPr/>
        </p:nvSpPr>
        <p:spPr>
          <a:xfrm>
            <a:off x="4932040" y="4113759"/>
            <a:ext cx="3013710" cy="8299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4 800000 </a:t>
            </a:r>
          </a:p>
          <a:p>
            <a:r>
              <a:rPr lang="zh-CN" altLang="en-US" sz="1600" dirty="0"/>
              <a:t>0 800000 </a:t>
            </a:r>
          </a:p>
          <a:p>
            <a:r>
              <a:rPr lang="zh-CN" altLang="en-US" sz="1600" dirty="0"/>
              <a:t>Name: sentiment, dtype: int64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8C72CD-617E-D50C-F5E1-9EAE94D460CF}"/>
              </a:ext>
            </a:extLst>
          </p:cNvPr>
          <p:cNvSpPr txBox="1"/>
          <p:nvPr/>
        </p:nvSpPr>
        <p:spPr>
          <a:xfrm>
            <a:off x="313469" y="4348098"/>
            <a:ext cx="5033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800" dirty="0"/>
              <a:t>If successful, the code execution result is as:</a:t>
            </a:r>
            <a:endParaRPr lang="zh-CN" altLang="en-US" sz="1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9FF0E6-F4C9-BEC6-FDB7-8D9E78CE9FBD}"/>
              </a:ext>
            </a:extLst>
          </p:cNvPr>
          <p:cNvSpPr txBox="1"/>
          <p:nvPr/>
        </p:nvSpPr>
        <p:spPr>
          <a:xfrm>
            <a:off x="107504" y="995791"/>
            <a:ext cx="4995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1</a:t>
            </a:r>
            <a:r>
              <a:rPr lang="zh-CN" altLang="en-US" sz="1800" dirty="0">
                <a:sym typeface="+mn-ea"/>
              </a:rPr>
              <a:t>）</a:t>
            </a:r>
            <a:r>
              <a:rPr lang="en-US" altLang="zh-CN" sz="18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Load Dataset</a:t>
            </a:r>
            <a:endParaRPr lang="zh-CN" altLang="en-US" sz="18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03191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D6E54-BCFB-A69A-3F85-066C2E8A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45663BB2-63FE-42C6-1455-784340CD4A3F}"/>
              </a:ext>
            </a:extLst>
          </p:cNvPr>
          <p:cNvSpPr txBox="1"/>
          <p:nvPr/>
        </p:nvSpPr>
        <p:spPr>
          <a:xfrm>
            <a:off x="84736" y="1120938"/>
            <a:ext cx="4995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2</a:t>
            </a:r>
            <a:r>
              <a:rPr lang="zh-CN" altLang="en-US" sz="1800" dirty="0">
                <a:sym typeface="+mn-ea"/>
              </a:rPr>
              <a:t>）</a:t>
            </a:r>
            <a:r>
              <a:rPr lang="en-US" altLang="zh-CN" sz="18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Text Preprocessing</a:t>
            </a:r>
            <a:endParaRPr lang="zh-CN" altLang="en-US" sz="18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198EF7-D5E4-F498-58B9-8ED17ED1171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6120" y="1563638"/>
            <a:ext cx="3313752" cy="31085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dirty="0"/>
              <a:t>import </a:t>
            </a:r>
            <a:r>
              <a:rPr lang="en-US" altLang="zh-CN" sz="1400" dirty="0" err="1"/>
              <a:t>nltk</a:t>
            </a:r>
            <a:endParaRPr lang="en-US" altLang="zh-CN" sz="1400" dirty="0"/>
          </a:p>
          <a:p>
            <a:r>
              <a:rPr lang="en-US" altLang="zh-CN" sz="1400" dirty="0"/>
              <a:t>import re</a:t>
            </a:r>
          </a:p>
          <a:p>
            <a:r>
              <a:rPr lang="en-US" altLang="zh-CN" sz="1400" dirty="0"/>
              <a:t>import </a:t>
            </a:r>
            <a:r>
              <a:rPr lang="en-US" altLang="zh-CN" sz="1400" dirty="0" err="1"/>
              <a:t>os</a:t>
            </a:r>
            <a:endParaRPr lang="en-US" altLang="zh-CN" sz="1400" dirty="0"/>
          </a:p>
          <a:p>
            <a:r>
              <a:rPr lang="en-US" altLang="zh-CN" sz="1400" dirty="0"/>
              <a:t># Set NLTK data path</a:t>
            </a:r>
          </a:p>
          <a:p>
            <a:r>
              <a:rPr lang="en-US" altLang="zh-CN" sz="1400" dirty="0" err="1"/>
              <a:t>nltk.data.path.append</a:t>
            </a:r>
            <a:r>
              <a:rPr lang="en-US" altLang="zh-CN" sz="1400" dirty="0"/>
              <a:t>(r"./</a:t>
            </a:r>
            <a:r>
              <a:rPr lang="en-US" altLang="zh-CN" sz="1400" dirty="0" err="1"/>
              <a:t>nltk_data</a:t>
            </a:r>
            <a:r>
              <a:rPr lang="en-US" altLang="zh-CN" sz="1400" dirty="0"/>
              <a:t>")</a:t>
            </a:r>
          </a:p>
          <a:p>
            <a:r>
              <a:rPr lang="en-US" altLang="zh-CN" sz="1400" dirty="0"/>
              <a:t>from </a:t>
            </a:r>
            <a:r>
              <a:rPr lang="en-US" altLang="zh-CN" sz="1400" dirty="0" err="1"/>
              <a:t>nltk.corpus</a:t>
            </a:r>
            <a:r>
              <a:rPr lang="en-US" altLang="zh-CN" sz="1400" dirty="0"/>
              <a:t> import </a:t>
            </a:r>
            <a:r>
              <a:rPr lang="en-US" altLang="zh-CN" sz="1400" dirty="0" err="1"/>
              <a:t>stopwords</a:t>
            </a:r>
            <a:endParaRPr lang="en-US" altLang="zh-CN" sz="1400" dirty="0"/>
          </a:p>
          <a:p>
            <a:r>
              <a:rPr lang="en-US" altLang="zh-CN" sz="1400" dirty="0"/>
              <a:t>from </a:t>
            </a:r>
            <a:r>
              <a:rPr lang="en-US" altLang="zh-CN" sz="1400" dirty="0" err="1"/>
              <a:t>nltk.stem</a:t>
            </a:r>
            <a:r>
              <a:rPr lang="en-US" altLang="zh-CN" sz="1400" dirty="0"/>
              <a:t> import </a:t>
            </a:r>
            <a:r>
              <a:rPr lang="en-US" altLang="zh-CN" sz="1400" dirty="0" err="1"/>
              <a:t>SnowballStemmer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# Stop words</a:t>
            </a:r>
          </a:p>
          <a:p>
            <a:r>
              <a:rPr lang="en-US" altLang="zh-CN" sz="1400" dirty="0" err="1"/>
              <a:t>stop_words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stopwords.words</a:t>
            </a:r>
            <a:r>
              <a:rPr lang="en-US" altLang="zh-CN" sz="1400" dirty="0"/>
              <a:t>("</a:t>
            </a:r>
            <a:r>
              <a:rPr lang="en-US" altLang="zh-CN" sz="1400" dirty="0" err="1"/>
              <a:t>english</a:t>
            </a:r>
            <a:r>
              <a:rPr lang="en-US" altLang="zh-CN" sz="1400" dirty="0"/>
              <a:t>")</a:t>
            </a:r>
          </a:p>
          <a:p>
            <a:endParaRPr lang="en-US" altLang="zh-CN" sz="1400" dirty="0"/>
          </a:p>
          <a:p>
            <a:r>
              <a:rPr lang="en-US" altLang="zh-CN" sz="1400" dirty="0"/>
              <a:t># Stemmer</a:t>
            </a:r>
          </a:p>
          <a:p>
            <a:r>
              <a:rPr lang="en-US" altLang="zh-CN" sz="1400" dirty="0"/>
              <a:t>stemmer = </a:t>
            </a:r>
            <a:r>
              <a:rPr lang="en-US" altLang="zh-CN" sz="1400" dirty="0" err="1"/>
              <a:t>SnowballStemmer</a:t>
            </a:r>
            <a:r>
              <a:rPr lang="en-US" altLang="zh-CN" sz="1400" dirty="0"/>
              <a:t>('</a:t>
            </a:r>
            <a:r>
              <a:rPr lang="en-US" altLang="zh-CN" sz="1400" dirty="0" err="1"/>
              <a:t>english</a:t>
            </a:r>
            <a:r>
              <a:rPr lang="en-US" altLang="zh-CN" sz="1400" dirty="0"/>
              <a:t>')</a:t>
            </a:r>
          </a:p>
          <a:p>
            <a:endParaRPr lang="zh-CN" altLang="en-US" sz="1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9ADCED-16E6-01F2-6702-72D5CD80AEA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65272" y="1560188"/>
            <a:ext cx="5472608" cy="33239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dirty="0"/>
              <a:t># Regular expression</a:t>
            </a:r>
          </a:p>
          <a:p>
            <a:r>
              <a:rPr lang="en-US" altLang="zh-CN" sz="1400" dirty="0" err="1"/>
              <a:t>text_cleaning_re</a:t>
            </a:r>
            <a:r>
              <a:rPr lang="en-US" altLang="zh-CN" sz="1400" dirty="0"/>
              <a:t> = '@\S+|https?:\S+|http?:\S|[^A-Za-z0-9]+'</a:t>
            </a:r>
          </a:p>
          <a:p>
            <a:endParaRPr lang="en-US" altLang="zh-CN" sz="1400" dirty="0"/>
          </a:p>
          <a:p>
            <a:r>
              <a:rPr lang="en-US" altLang="zh-CN" sz="1400" dirty="0"/>
              <a:t># Clean the text</a:t>
            </a:r>
          </a:p>
          <a:p>
            <a:r>
              <a:rPr lang="en-US" altLang="zh-CN" sz="1400" dirty="0"/>
              <a:t>import re</a:t>
            </a:r>
          </a:p>
          <a:p>
            <a:r>
              <a:rPr lang="en-US" altLang="zh-CN" sz="1400" dirty="0"/>
              <a:t>def preprocessing(text, stem=False):</a:t>
            </a:r>
          </a:p>
          <a:p>
            <a:r>
              <a:rPr lang="en-US" altLang="zh-CN" sz="1400" dirty="0"/>
              <a:t>    text = </a:t>
            </a:r>
            <a:r>
              <a:rPr lang="en-US" altLang="zh-CN" sz="1400" dirty="0" err="1"/>
              <a:t>re.sub</a:t>
            </a:r>
            <a:r>
              <a:rPr lang="en-US" altLang="zh-CN" sz="1400" dirty="0"/>
              <a:t>(</a:t>
            </a:r>
            <a:r>
              <a:rPr lang="en-US" altLang="zh-CN" sz="1400" dirty="0" err="1"/>
              <a:t>text_cleaning_re</a:t>
            </a:r>
            <a:r>
              <a:rPr lang="en-US" altLang="zh-CN" sz="1400" dirty="0"/>
              <a:t>, ' ', str(text).lower()).strip()</a:t>
            </a:r>
          </a:p>
          <a:p>
            <a:r>
              <a:rPr lang="en-US" altLang="zh-CN" sz="1400" dirty="0"/>
              <a:t>    tokens = []</a:t>
            </a:r>
          </a:p>
          <a:p>
            <a:r>
              <a:rPr lang="en-US" altLang="zh-CN" sz="1400" dirty="0"/>
              <a:t>    for token in </a:t>
            </a:r>
            <a:r>
              <a:rPr lang="en-US" altLang="zh-CN" sz="1400" dirty="0" err="1"/>
              <a:t>text.split</a:t>
            </a:r>
            <a:r>
              <a:rPr lang="en-US" altLang="zh-CN" sz="1400" dirty="0"/>
              <a:t>():</a:t>
            </a:r>
          </a:p>
          <a:p>
            <a:r>
              <a:rPr lang="en-US" altLang="zh-CN" sz="1400" dirty="0"/>
              <a:t>        if token not in </a:t>
            </a:r>
            <a:r>
              <a:rPr lang="en-US" altLang="zh-CN" sz="1400" dirty="0" err="1"/>
              <a:t>stop_words</a:t>
            </a:r>
            <a:r>
              <a:rPr lang="en-US" altLang="zh-CN" sz="1400" dirty="0"/>
              <a:t>:</a:t>
            </a:r>
          </a:p>
          <a:p>
            <a:r>
              <a:rPr lang="en-US" altLang="zh-CN" sz="1400" dirty="0"/>
              <a:t>            if stem:</a:t>
            </a:r>
          </a:p>
          <a:p>
            <a:r>
              <a:rPr lang="en-US" altLang="zh-CN" sz="1400" dirty="0"/>
              <a:t>                </a:t>
            </a:r>
            <a:r>
              <a:rPr lang="en-US" altLang="zh-CN" sz="1400" dirty="0" err="1"/>
              <a:t>tokens.append</a:t>
            </a:r>
            <a:r>
              <a:rPr lang="en-US" altLang="zh-CN" sz="1400" dirty="0"/>
              <a:t>(</a:t>
            </a:r>
            <a:r>
              <a:rPr lang="en-US" altLang="zh-CN" sz="1400" dirty="0" err="1"/>
              <a:t>stemmer.stem</a:t>
            </a:r>
            <a:r>
              <a:rPr lang="en-US" altLang="zh-CN" sz="1400" dirty="0"/>
              <a:t>(token))  # Extract stem</a:t>
            </a:r>
          </a:p>
          <a:p>
            <a:r>
              <a:rPr lang="en-US" altLang="zh-CN" sz="1400" dirty="0"/>
              <a:t>            else:</a:t>
            </a:r>
          </a:p>
          <a:p>
            <a:r>
              <a:rPr lang="en-US" altLang="zh-CN" sz="1400" dirty="0"/>
              <a:t>                </a:t>
            </a:r>
            <a:r>
              <a:rPr lang="en-US" altLang="zh-CN" sz="1400" dirty="0" err="1"/>
              <a:t>tokens.append</a:t>
            </a:r>
            <a:r>
              <a:rPr lang="en-US" altLang="zh-CN" sz="1400" dirty="0"/>
              <a:t>(token)  # Save word directly</a:t>
            </a:r>
          </a:p>
          <a:p>
            <a:r>
              <a:rPr lang="en-US" altLang="zh-CN" sz="1400" dirty="0"/>
              <a:t>    return ' '.join(tokens)</a:t>
            </a:r>
            <a:endParaRPr lang="zh-CN" altLang="en-US" sz="14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B99313C-EDB4-3C49-9E3A-B0A9DE809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680520"/>
            <a:ext cx="3600400" cy="337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Preprocess Dataset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523670-969A-DA0B-46F5-B8B73DB5FEB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76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79677-B46D-C891-1952-47971F9E2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8402DF3-248A-B4FD-3EDE-30C0C812A22B}"/>
              </a:ext>
            </a:extLst>
          </p:cNvPr>
          <p:cNvSpPr txBox="1"/>
          <p:nvPr/>
        </p:nvSpPr>
        <p:spPr>
          <a:xfrm>
            <a:off x="77166" y="1017600"/>
            <a:ext cx="4995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3</a:t>
            </a:r>
            <a:r>
              <a:rPr lang="zh-CN" altLang="en-US" sz="1800" dirty="0">
                <a:sym typeface="+mn-ea"/>
              </a:rPr>
              <a:t>）</a:t>
            </a:r>
            <a:r>
              <a:rPr lang="en-US" altLang="zh-CN" sz="18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Split Training Set and Test Set</a:t>
            </a:r>
            <a:endParaRPr lang="zh-CN" altLang="en-US" sz="18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49F761-0DFE-67BE-BA4A-C84472C7D53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74864" y="1386932"/>
            <a:ext cx="7994272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dirty="0"/>
              <a:t># Clean each row of text in the text column of the dataset</a:t>
            </a:r>
          </a:p>
          <a:p>
            <a:r>
              <a:rPr lang="en-US" altLang="zh-CN" sz="1400" dirty="0" err="1"/>
              <a:t>df.text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df.text.apply</a:t>
            </a:r>
            <a:r>
              <a:rPr lang="en-US" altLang="zh-CN" sz="1400" dirty="0"/>
              <a:t>(lambda x: preprocessing(x))</a:t>
            </a:r>
          </a:p>
          <a:p>
            <a:r>
              <a:rPr lang="en-US" altLang="zh-CN" sz="1400" dirty="0"/>
              <a:t># Cleaned sample</a:t>
            </a:r>
          </a:p>
          <a:p>
            <a:r>
              <a:rPr lang="en-US" altLang="zh-CN" sz="1400" dirty="0" err="1"/>
              <a:t>df.text</a:t>
            </a:r>
            <a:r>
              <a:rPr lang="en-US" altLang="zh-CN" sz="1400" dirty="0"/>
              <a:t>[2]</a:t>
            </a:r>
          </a:p>
          <a:p>
            <a:r>
              <a:rPr lang="en-US" altLang="zh-CN" sz="1400" dirty="0"/>
              <a:t>MAX_WORDS = 100000  # Maximum vocabulary size 100,000</a:t>
            </a:r>
          </a:p>
          <a:p>
            <a:r>
              <a:rPr lang="en-US" altLang="zh-CN" sz="1400" dirty="0"/>
              <a:t>MAX_SEQ_LENGTH = 30  # Maximum sequence length 30</a:t>
            </a:r>
          </a:p>
          <a:p>
            <a:endParaRPr lang="en-US" altLang="zh-CN" sz="1400" dirty="0"/>
          </a:p>
          <a:p>
            <a:r>
              <a:rPr lang="en-US" altLang="zh-CN" sz="1400" dirty="0"/>
              <a:t># Split train and test sets</a:t>
            </a:r>
          </a:p>
          <a:p>
            <a:r>
              <a:rPr lang="en-US" altLang="zh-CN" sz="1400" dirty="0" err="1"/>
              <a:t>train_dataset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test_dataset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train_test_split</a:t>
            </a:r>
            <a:r>
              <a:rPr lang="en-US" altLang="zh-CN" sz="1400" dirty="0"/>
              <a:t>(</a:t>
            </a:r>
            <a:r>
              <a:rPr lang="en-US" altLang="zh-CN" sz="1400" dirty="0" err="1"/>
              <a:t>df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test_size</a:t>
            </a:r>
            <a:r>
              <a:rPr lang="en-US" altLang="zh-CN" sz="1400" dirty="0"/>
              <a:t>=0.2, </a:t>
            </a:r>
            <a:r>
              <a:rPr lang="en-US" altLang="zh-CN" sz="1400" dirty="0" err="1"/>
              <a:t>random_state</a:t>
            </a:r>
            <a:r>
              <a:rPr lang="en-US" altLang="zh-CN" sz="1400" dirty="0"/>
              <a:t>=666, shuffle=True)</a:t>
            </a:r>
          </a:p>
          <a:p>
            <a:endParaRPr lang="en-US" altLang="zh-CN" sz="1400" dirty="0"/>
          </a:p>
          <a:p>
            <a:r>
              <a:rPr lang="en-US" altLang="zh-CN" sz="1400" dirty="0"/>
              <a:t># Tokenization</a:t>
            </a:r>
          </a:p>
          <a:p>
            <a:r>
              <a:rPr lang="en-US" altLang="zh-CN" sz="1400" dirty="0"/>
              <a:t>import </a:t>
            </a:r>
            <a:r>
              <a:rPr lang="en-US" altLang="zh-CN" sz="1400" dirty="0" err="1"/>
              <a:t>tensorflow</a:t>
            </a:r>
            <a:r>
              <a:rPr lang="en-US" altLang="zh-CN" sz="1400" dirty="0"/>
              <a:t> as </a:t>
            </a:r>
            <a:r>
              <a:rPr lang="en-US" altLang="zh-CN" sz="1400" dirty="0" err="1"/>
              <a:t>tf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# Correction: Use </a:t>
            </a:r>
            <a:r>
              <a:rPr lang="en-US" altLang="zh-CN" sz="1400" dirty="0" err="1"/>
              <a:t>tf.keras.preprocessing.text</a:t>
            </a:r>
            <a:r>
              <a:rPr lang="en-US" altLang="zh-CN" sz="1400" dirty="0"/>
              <a:t> instead of from </a:t>
            </a:r>
            <a:r>
              <a:rPr lang="en-US" altLang="zh-CN" sz="1400" dirty="0" err="1"/>
              <a:t>tf.keras</a:t>
            </a:r>
            <a:r>
              <a:rPr lang="en-US" altLang="zh-CN" sz="1400" dirty="0"/>
              <a:t>...</a:t>
            </a:r>
          </a:p>
          <a:p>
            <a:r>
              <a:rPr lang="en-US" altLang="zh-CN" sz="1400" dirty="0"/>
              <a:t>tokenizer = </a:t>
            </a:r>
            <a:r>
              <a:rPr lang="en-US" altLang="zh-CN" sz="1400" dirty="0" err="1"/>
              <a:t>tf.keras.preprocessing.text.Tokenizer</a:t>
            </a:r>
            <a:r>
              <a:rPr lang="en-US" altLang="zh-CN" sz="1400" dirty="0"/>
              <a:t>(</a:t>
            </a:r>
            <a:r>
              <a:rPr lang="en-US" altLang="zh-CN" sz="1400" dirty="0" err="1"/>
              <a:t>num_words</a:t>
            </a:r>
            <a:r>
              <a:rPr lang="en-US" altLang="zh-CN" sz="1400" dirty="0"/>
              <a:t>=MAX_WORDS)</a:t>
            </a:r>
          </a:p>
          <a:p>
            <a:r>
              <a:rPr lang="en-US" altLang="zh-CN" sz="1400" dirty="0" err="1"/>
              <a:t>tokenizer.fit_on_texts</a:t>
            </a:r>
            <a:r>
              <a:rPr lang="en-US" altLang="zh-CN" sz="1400" dirty="0"/>
              <a:t>(</a:t>
            </a:r>
            <a:r>
              <a:rPr lang="en-US" altLang="zh-CN" sz="1400" dirty="0" err="1"/>
              <a:t>train_dataset.text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18B438C-37B1-5AC3-05A7-8C35E9C5F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680520"/>
            <a:ext cx="3600400" cy="337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Preprocess Dataset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8FA1D449-DF70-BDEA-C92E-7D85058A7B6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444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34EF0-6CF7-FEDD-3F72-98C14B83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A0C281A2-FF4F-CDAF-A73A-05F3DA87A9DA}"/>
              </a:ext>
            </a:extLst>
          </p:cNvPr>
          <p:cNvSpPr txBox="1"/>
          <p:nvPr/>
        </p:nvSpPr>
        <p:spPr>
          <a:xfrm>
            <a:off x="77166" y="1017600"/>
            <a:ext cx="4995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3</a:t>
            </a:r>
            <a:r>
              <a:rPr lang="zh-CN" altLang="en-US" sz="1800" dirty="0">
                <a:sym typeface="+mn-ea"/>
              </a:rPr>
              <a:t>）</a:t>
            </a:r>
            <a:r>
              <a:rPr lang="en-US" altLang="zh-CN" sz="18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Split Training Set and Test Set</a:t>
            </a:r>
            <a:endParaRPr lang="zh-CN" altLang="en-US" sz="18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4E413D-481D-7DD7-3259-A3AB017F3DC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74864" y="1386932"/>
            <a:ext cx="8173600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dirty="0"/>
              <a:t># Each word corresponds to an index</a:t>
            </a:r>
          </a:p>
          <a:p>
            <a:r>
              <a:rPr lang="en-US" altLang="zh-CN" sz="1400" dirty="0" err="1"/>
              <a:t>word_index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tokenizer.word_index</a:t>
            </a:r>
            <a:endParaRPr lang="en-US" altLang="zh-CN" sz="1400" dirty="0"/>
          </a:p>
          <a:p>
            <a:r>
              <a:rPr lang="en-US" altLang="zh-CN" sz="1400" dirty="0"/>
              <a:t># Training set vocabulary size</a:t>
            </a:r>
          </a:p>
          <a:p>
            <a:r>
              <a:rPr lang="en-US" altLang="zh-CN" sz="1400" dirty="0" err="1"/>
              <a:t>vocab_size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(</a:t>
            </a:r>
            <a:r>
              <a:rPr lang="en-US" altLang="zh-CN" sz="1400" dirty="0" err="1"/>
              <a:t>word_index</a:t>
            </a:r>
            <a:r>
              <a:rPr lang="en-US" altLang="zh-CN" sz="1400" dirty="0"/>
              <a:t>) + 1</a:t>
            </a:r>
          </a:p>
          <a:p>
            <a:r>
              <a:rPr lang="en-US" altLang="zh-CN" sz="1400" dirty="0"/>
              <a:t>print(</a:t>
            </a:r>
            <a:r>
              <a:rPr lang="en-US" altLang="zh-CN" sz="1400" dirty="0" err="1"/>
              <a:t>f"Vocabulary</a:t>
            </a:r>
            <a:r>
              <a:rPr lang="en-US" altLang="zh-CN" sz="1400" dirty="0"/>
              <a:t> size: {</a:t>
            </a:r>
            <a:r>
              <a:rPr lang="en-US" altLang="zh-CN" sz="1400" dirty="0" err="1"/>
              <a:t>vocab_size</a:t>
            </a:r>
            <a:r>
              <a:rPr lang="en-US" altLang="zh-CN" sz="1400" dirty="0"/>
              <a:t>}")</a:t>
            </a:r>
          </a:p>
          <a:p>
            <a:endParaRPr lang="en-US" altLang="zh-CN" sz="1400" dirty="0"/>
          </a:p>
          <a:p>
            <a:r>
              <a:rPr lang="en-US" altLang="zh-CN" sz="1400" dirty="0"/>
              <a:t># Fix the length of each text</a:t>
            </a:r>
          </a:p>
          <a:p>
            <a:r>
              <a:rPr lang="en-US" altLang="zh-CN" sz="1400" dirty="0"/>
              <a:t># Correction: Use </a:t>
            </a:r>
            <a:r>
              <a:rPr lang="en-US" altLang="zh-CN" sz="1400" dirty="0" err="1"/>
              <a:t>tf.keras.preprocessing.sequence</a:t>
            </a:r>
            <a:endParaRPr lang="en-US" altLang="zh-CN" sz="1400" dirty="0"/>
          </a:p>
          <a:p>
            <a:r>
              <a:rPr lang="en-US" altLang="zh-CN" sz="1400" dirty="0"/>
              <a:t># Convert words to sequences</a:t>
            </a:r>
          </a:p>
          <a:p>
            <a:r>
              <a:rPr lang="en-US" altLang="zh-CN" sz="1400" dirty="0" err="1"/>
              <a:t>x_train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tf.keras.preprocessing.sequence.pad_sequences</a:t>
            </a:r>
            <a:r>
              <a:rPr lang="en-US" altLang="zh-CN" sz="1400" dirty="0"/>
              <a:t>(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tokenizer.texts_to_sequences</a:t>
            </a:r>
            <a:r>
              <a:rPr lang="en-US" altLang="zh-CN" sz="1400" dirty="0"/>
              <a:t>(</a:t>
            </a:r>
            <a:r>
              <a:rPr lang="en-US" altLang="zh-CN" sz="1400" dirty="0" err="1"/>
              <a:t>train_dataset.text</a:t>
            </a:r>
            <a:r>
              <a:rPr lang="en-US" altLang="zh-CN" sz="1400" dirty="0"/>
              <a:t>),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maxlen</a:t>
            </a:r>
            <a:r>
              <a:rPr lang="en-US" altLang="zh-CN" sz="1400" dirty="0"/>
              <a:t>=MAX_SEQ_LENGTH)</a:t>
            </a:r>
          </a:p>
          <a:p>
            <a:endParaRPr lang="en-US" altLang="zh-CN" sz="1400" dirty="0"/>
          </a:p>
          <a:p>
            <a:r>
              <a:rPr lang="en-US" altLang="zh-CN" sz="1400" dirty="0" err="1"/>
              <a:t>x_test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tf.keras.preprocessing.sequence.pad_sequences</a:t>
            </a:r>
            <a:r>
              <a:rPr lang="en-US" altLang="zh-CN" sz="1400" dirty="0"/>
              <a:t>(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tokenizer.texts_to_sequences</a:t>
            </a:r>
            <a:r>
              <a:rPr lang="en-US" altLang="zh-CN" sz="1400" dirty="0"/>
              <a:t>(</a:t>
            </a:r>
            <a:r>
              <a:rPr lang="en-US" altLang="zh-CN" sz="1400" dirty="0" err="1"/>
              <a:t>test_dataset.text</a:t>
            </a:r>
            <a:r>
              <a:rPr lang="en-US" altLang="zh-CN" sz="1400" dirty="0"/>
              <a:t>),</a:t>
            </a: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maxlen</a:t>
            </a:r>
            <a:r>
              <a:rPr lang="en-US" altLang="zh-CN" sz="1400" dirty="0"/>
              <a:t>=MAX_SEQ_LENGTH)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7127B9-34A7-551D-0E33-10E39C95B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680520"/>
            <a:ext cx="3600400" cy="337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Preprocess Dataset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BA387DA-184F-6D59-E508-B5F4081F979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918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952A2-6E73-FC6F-E17F-79AED544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A1184928-079E-42A5-F870-5280A92ACC26}"/>
              </a:ext>
            </a:extLst>
          </p:cNvPr>
          <p:cNvSpPr txBox="1"/>
          <p:nvPr/>
        </p:nvSpPr>
        <p:spPr>
          <a:xfrm>
            <a:off x="81128" y="1162143"/>
            <a:ext cx="4995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800" dirty="0">
                <a:sym typeface="+mn-ea"/>
              </a:rPr>
              <a:t>（</a:t>
            </a:r>
            <a:r>
              <a:rPr lang="en-US" altLang="zh-CN" sz="1800" dirty="0">
                <a:sym typeface="+mn-ea"/>
              </a:rPr>
              <a:t>3</a:t>
            </a:r>
            <a:r>
              <a:rPr lang="zh-CN" altLang="en-US" sz="1800" dirty="0">
                <a:sym typeface="+mn-ea"/>
              </a:rPr>
              <a:t>）</a:t>
            </a:r>
            <a:r>
              <a:rPr lang="en-US" altLang="zh-CN" sz="18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Split Training Set and Test Set</a:t>
            </a:r>
            <a:endParaRPr lang="zh-CN" altLang="en-US" sz="18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71F558-790C-3170-AA62-393F26ABED0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11560" y="1676018"/>
            <a:ext cx="8173600" cy="2462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dirty="0"/>
              <a:t># Perform </a:t>
            </a:r>
            <a:r>
              <a:rPr lang="en-US" altLang="zh-CN" sz="1400" dirty="0" err="1"/>
              <a:t>LabelEncoding</a:t>
            </a:r>
            <a:r>
              <a:rPr lang="en-US" altLang="zh-CN" sz="1400" dirty="0"/>
              <a:t> on label categories, encode categories into continuous numbers</a:t>
            </a:r>
          </a:p>
          <a:p>
            <a:r>
              <a:rPr lang="en-US" altLang="zh-CN" sz="1400" dirty="0"/>
              <a:t>from </a:t>
            </a:r>
            <a:r>
              <a:rPr lang="en-US" altLang="zh-CN" sz="1400" dirty="0" err="1"/>
              <a:t>sklearn.preprocessing</a:t>
            </a:r>
            <a:r>
              <a:rPr lang="en-US" altLang="zh-CN" sz="1400" dirty="0"/>
              <a:t> import </a:t>
            </a:r>
            <a:r>
              <a:rPr lang="en-US" altLang="zh-CN" sz="1400" dirty="0" err="1"/>
              <a:t>LabelEncoder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encoder = </a:t>
            </a:r>
            <a:r>
              <a:rPr lang="en-US" altLang="zh-CN" sz="1400" dirty="0" err="1"/>
              <a:t>LabelEncoder</a:t>
            </a:r>
            <a:r>
              <a:rPr lang="en-US" altLang="zh-CN" sz="1400" dirty="0"/>
              <a:t>()</a:t>
            </a:r>
          </a:p>
          <a:p>
            <a:r>
              <a:rPr lang="en-US" altLang="zh-CN" sz="1400" dirty="0" err="1"/>
              <a:t>y_train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encoder.fit_transform</a:t>
            </a:r>
            <a:r>
              <a:rPr lang="en-US" altLang="zh-CN" sz="1400" dirty="0"/>
              <a:t>(</a:t>
            </a:r>
            <a:r>
              <a:rPr lang="en-US" altLang="zh-CN" sz="1400" dirty="0" err="1"/>
              <a:t>train_dataset.sentiment.tolist</a:t>
            </a:r>
            <a:r>
              <a:rPr lang="en-US" altLang="zh-CN" sz="1400" dirty="0"/>
              <a:t>())</a:t>
            </a:r>
          </a:p>
          <a:p>
            <a:r>
              <a:rPr lang="en-US" altLang="zh-CN" sz="1400" dirty="0" err="1"/>
              <a:t>y_test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encoder.fit_transform</a:t>
            </a:r>
            <a:r>
              <a:rPr lang="en-US" altLang="zh-CN" sz="1400" dirty="0"/>
              <a:t>(</a:t>
            </a:r>
            <a:r>
              <a:rPr lang="en-US" altLang="zh-CN" sz="1400" dirty="0" err="1"/>
              <a:t>test_dataset.sentiment.tolist</a:t>
            </a:r>
            <a:r>
              <a:rPr lang="en-US" altLang="zh-CN" sz="1400" dirty="0"/>
              <a:t>())</a:t>
            </a:r>
          </a:p>
          <a:p>
            <a:r>
              <a:rPr lang="en-US" altLang="zh-CN" sz="1400" dirty="0" err="1"/>
              <a:t>y_train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y_train.reshape</a:t>
            </a:r>
            <a:r>
              <a:rPr lang="en-US" altLang="zh-CN" sz="1400" dirty="0"/>
              <a:t>(-1, 1)  # Reshape</a:t>
            </a:r>
          </a:p>
          <a:p>
            <a:r>
              <a:rPr lang="en-US" altLang="zh-CN" sz="1400" dirty="0" err="1"/>
              <a:t>y_test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y_test.reshape</a:t>
            </a:r>
            <a:r>
              <a:rPr lang="en-US" altLang="zh-CN" sz="1400" dirty="0"/>
              <a:t>(-1, 1)</a:t>
            </a:r>
          </a:p>
          <a:p>
            <a:endParaRPr lang="en-US" altLang="zh-CN" sz="1400" dirty="0"/>
          </a:p>
          <a:p>
            <a:r>
              <a:rPr lang="en-US" altLang="zh-CN" sz="1400" dirty="0"/>
              <a:t>print(</a:t>
            </a:r>
            <a:r>
              <a:rPr lang="en-US" altLang="zh-CN" sz="1400" dirty="0" err="1"/>
              <a:t>f"Training</a:t>
            </a:r>
            <a:r>
              <a:rPr lang="en-US" altLang="zh-CN" sz="1400" dirty="0"/>
              <a:t> set shape: </a:t>
            </a:r>
            <a:r>
              <a:rPr lang="en-US" altLang="zh-CN" sz="1400" dirty="0" err="1"/>
              <a:t>x_train</a:t>
            </a:r>
            <a:r>
              <a:rPr lang="en-US" altLang="zh-CN" sz="1400" dirty="0"/>
              <a:t> {</a:t>
            </a:r>
            <a:r>
              <a:rPr lang="en-US" altLang="zh-CN" sz="1400" dirty="0" err="1"/>
              <a:t>x_train.shape</a:t>
            </a:r>
            <a:r>
              <a:rPr lang="en-US" altLang="zh-CN" sz="1400" dirty="0"/>
              <a:t>}, </a:t>
            </a:r>
            <a:r>
              <a:rPr lang="en-US" altLang="zh-CN" sz="1400" dirty="0" err="1"/>
              <a:t>y_train</a:t>
            </a:r>
            <a:r>
              <a:rPr lang="en-US" altLang="zh-CN" sz="1400" dirty="0"/>
              <a:t> {</a:t>
            </a:r>
            <a:r>
              <a:rPr lang="en-US" altLang="zh-CN" sz="1400" dirty="0" err="1"/>
              <a:t>y_train.shape</a:t>
            </a:r>
            <a:r>
              <a:rPr lang="en-US" altLang="zh-CN" sz="1400" dirty="0"/>
              <a:t>}")</a:t>
            </a:r>
          </a:p>
          <a:p>
            <a:r>
              <a:rPr lang="en-US" altLang="zh-CN" sz="1400" dirty="0"/>
              <a:t>print(</a:t>
            </a:r>
            <a:r>
              <a:rPr lang="en-US" altLang="zh-CN" sz="1400" dirty="0" err="1"/>
              <a:t>f"Test</a:t>
            </a:r>
            <a:r>
              <a:rPr lang="en-US" altLang="zh-CN" sz="1400" dirty="0"/>
              <a:t> set shape: </a:t>
            </a:r>
            <a:r>
              <a:rPr lang="en-US" altLang="zh-CN" sz="1400" dirty="0" err="1"/>
              <a:t>x_test</a:t>
            </a:r>
            <a:r>
              <a:rPr lang="en-US" altLang="zh-CN" sz="1400" dirty="0"/>
              <a:t> {</a:t>
            </a:r>
            <a:r>
              <a:rPr lang="en-US" altLang="zh-CN" sz="1400" dirty="0" err="1"/>
              <a:t>x_test.shape</a:t>
            </a:r>
            <a:r>
              <a:rPr lang="en-US" altLang="zh-CN" sz="1400" dirty="0"/>
              <a:t>}, </a:t>
            </a:r>
            <a:r>
              <a:rPr lang="en-US" altLang="zh-CN" sz="1400" dirty="0" err="1"/>
              <a:t>y_test</a:t>
            </a:r>
            <a:r>
              <a:rPr lang="en-US" altLang="zh-CN" sz="1400" dirty="0"/>
              <a:t> {</a:t>
            </a:r>
            <a:r>
              <a:rPr lang="en-US" altLang="zh-CN" sz="1400" dirty="0" err="1"/>
              <a:t>y_test.shape</a:t>
            </a:r>
            <a:r>
              <a:rPr lang="en-US" altLang="zh-CN" sz="1400" dirty="0"/>
              <a:t>}")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798223-EF5E-A55C-6576-24394F99C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680520"/>
            <a:ext cx="3600400" cy="337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Preprocess Dataset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413FE07-887F-5AF3-1136-0760EC7E6F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160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F3B1-1B8C-6716-F3A1-91D21385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541AF88-04EE-2EEE-CF77-E51D339D5BCD}"/>
              </a:ext>
            </a:extLst>
          </p:cNvPr>
          <p:cNvSpPr txBox="1"/>
          <p:nvPr/>
        </p:nvSpPr>
        <p:spPr>
          <a:xfrm>
            <a:off x="251520" y="1271546"/>
            <a:ext cx="9180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800" dirty="0" err="1">
                <a:sym typeface="+mn-ea"/>
              </a:rPr>
              <a:t>GloVe</a:t>
            </a:r>
            <a:r>
              <a:rPr lang="en-US" altLang="zh-CN" sz="1800" dirty="0">
                <a:sym typeface="+mn-ea"/>
              </a:rPr>
              <a:t> is an unsupervised learning algorithm for obtaining vector representations of words.</a:t>
            </a:r>
            <a:endParaRPr lang="zh-CN" altLang="en-US" sz="18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C9BECD-007C-B18A-BDA3-5C54B9EBF36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99553" y="2067694"/>
            <a:ext cx="8658800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/>
              <a:t># Word embedding: Represent words with feature vectors, using pre-trained word vectors </a:t>
            </a:r>
            <a:r>
              <a:rPr lang="en-US" altLang="zh-CN" sz="1600" dirty="0" err="1"/>
              <a:t>GloVe</a:t>
            </a:r>
            <a:r>
              <a:rPr lang="en-US" altLang="zh-CN" sz="1600" dirty="0"/>
              <a:t> here</a:t>
            </a:r>
          </a:p>
          <a:p>
            <a:r>
              <a:rPr lang="en-US" altLang="zh-CN" sz="1600" dirty="0" err="1"/>
              <a:t>GloVe</a:t>
            </a:r>
            <a:r>
              <a:rPr lang="en-US" altLang="zh-CN" sz="1600" dirty="0"/>
              <a:t> = "glove.6B.300d.txt"</a:t>
            </a:r>
          </a:p>
          <a:p>
            <a:r>
              <a:rPr lang="en-US" altLang="zh-CN" sz="1600" dirty="0"/>
              <a:t>EMBEDDING_DIM = 300  # 300 dimensions</a:t>
            </a:r>
          </a:p>
          <a:p>
            <a:r>
              <a:rPr lang="en-US" altLang="zh-CN" sz="1600" dirty="0"/>
              <a:t>BATCH_SIZE = 10000  # Batch size</a:t>
            </a:r>
          </a:p>
          <a:p>
            <a:r>
              <a:rPr lang="en-US" altLang="zh-CN" sz="1600" dirty="0"/>
              <a:t>EPOCHS = 10  # Number of epochs</a:t>
            </a:r>
          </a:p>
          <a:p>
            <a:r>
              <a:rPr lang="en-US" altLang="zh-CN" sz="1600" dirty="0"/>
              <a:t>LR = 1e-3  # Learning rate</a:t>
            </a:r>
          </a:p>
          <a:p>
            <a:r>
              <a:rPr lang="en-US" altLang="zh-CN" sz="1600" dirty="0"/>
              <a:t>MODEL_PATH = "./best_model.hdf5"  # Model save path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8C3CEC-B7CF-3118-C545-D5523574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680520"/>
            <a:ext cx="8955368" cy="337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 pre-trained word vectors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obtain word vector representations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42B49BD-3D6C-4A15-1268-0BD50D6D7E6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241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00BC-98DB-C154-AB6D-917AA9A2A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120653D-9EE7-32C9-C6FA-2FD1676C27F0}"/>
              </a:ext>
            </a:extLst>
          </p:cNvPr>
          <p:cNvSpPr txBox="1"/>
          <p:nvPr/>
        </p:nvSpPr>
        <p:spPr>
          <a:xfrm>
            <a:off x="251520" y="1271546"/>
            <a:ext cx="9180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800" dirty="0">
                <a:sym typeface="+mn-ea"/>
              </a:rPr>
              <a:t>(1) Build a word vector dictionary</a:t>
            </a:r>
            <a:endParaRPr lang="zh-CN" altLang="en-US" sz="18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D01280-8C35-4F16-7472-0B10965DF92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39552" y="1894824"/>
            <a:ext cx="8281962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/>
              <a:t># Build dictionary: format: { word : word embedding vector }</a:t>
            </a:r>
          </a:p>
          <a:p>
            <a:r>
              <a:rPr lang="en-US" altLang="zh-CN" sz="1600" dirty="0" err="1"/>
              <a:t>embedding_index</a:t>
            </a:r>
            <a:r>
              <a:rPr lang="en-US" altLang="zh-CN" sz="1600" dirty="0"/>
              <a:t> = {}</a:t>
            </a:r>
          </a:p>
          <a:p>
            <a:r>
              <a:rPr lang="en-US" altLang="zh-CN" sz="1600" dirty="0"/>
              <a:t>with open(</a:t>
            </a:r>
            <a:r>
              <a:rPr lang="en-US" altLang="zh-CN" sz="1600" dirty="0" err="1"/>
              <a:t>GloVe</a:t>
            </a:r>
            <a:r>
              <a:rPr lang="en-US" altLang="zh-CN" sz="1600" dirty="0"/>
              <a:t>, encoding='UTF-8') as f:</a:t>
            </a:r>
          </a:p>
          <a:p>
            <a:r>
              <a:rPr lang="en-US" altLang="zh-CN" sz="1600" dirty="0"/>
              <a:t>    for line in f:</a:t>
            </a:r>
          </a:p>
          <a:p>
            <a:r>
              <a:rPr lang="en-US" altLang="zh-CN" sz="1600" dirty="0"/>
              <a:t>        values = </a:t>
            </a:r>
            <a:r>
              <a:rPr lang="en-US" altLang="zh-CN" sz="1600" dirty="0" err="1"/>
              <a:t>line.split</a:t>
            </a:r>
            <a:r>
              <a:rPr lang="en-US" altLang="zh-CN" sz="1600" dirty="0"/>
              <a:t>()  # Split by space</a:t>
            </a:r>
          </a:p>
          <a:p>
            <a:r>
              <a:rPr lang="en-US" altLang="zh-CN" sz="1600" dirty="0"/>
              <a:t>        word = values[0]  # Word is at the first position</a:t>
            </a:r>
          </a:p>
          <a:p>
            <a:r>
              <a:rPr lang="en-US" altLang="zh-CN" sz="1600" dirty="0"/>
              <a:t>        # Word embedding corresponding to each word</a:t>
            </a:r>
            <a:endParaRPr lang="en-US" altLang="zh-CN" sz="1600" b="1" dirty="0"/>
          </a:p>
          <a:p>
            <a:r>
              <a:rPr lang="en-US" altLang="zh-CN" sz="1600" dirty="0"/>
              <a:t>        embeddings = </a:t>
            </a:r>
            <a:r>
              <a:rPr lang="en-US" altLang="zh-CN" sz="1600" dirty="0" err="1"/>
              <a:t>np.asarray</a:t>
            </a:r>
            <a:r>
              <a:rPr lang="en-US" altLang="zh-CN" sz="1600" dirty="0"/>
              <a:t>(values[1:], </a:t>
            </a:r>
            <a:r>
              <a:rPr lang="en-US" altLang="zh-CN" sz="1600" dirty="0" err="1"/>
              <a:t>dtype</a:t>
            </a:r>
            <a:r>
              <a:rPr lang="en-US" altLang="zh-CN" sz="1600" dirty="0"/>
              <a:t>="float32")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embedding_index</a:t>
            </a:r>
            <a:r>
              <a:rPr lang="en-US" altLang="zh-CN" sz="1600" dirty="0"/>
              <a:t>[word] = embeddings  # Key-value pair</a:t>
            </a:r>
          </a:p>
          <a:p>
            <a:endParaRPr lang="en-US" altLang="zh-CN" sz="1600" dirty="0"/>
          </a:p>
          <a:p>
            <a:r>
              <a:rPr lang="en-US" altLang="zh-CN" sz="1600" dirty="0" err="1"/>
              <a:t>len</a:t>
            </a:r>
            <a:r>
              <a:rPr lang="en-US" altLang="zh-CN" sz="1600" dirty="0"/>
              <a:t>(</a:t>
            </a:r>
            <a:r>
              <a:rPr lang="en-US" altLang="zh-CN" sz="1600" dirty="0" err="1"/>
              <a:t>embedding_index</a:t>
            </a:r>
            <a:r>
              <a:rPr lang="en-US" altLang="zh-CN" sz="1600" dirty="0"/>
              <a:t>)  # Number of words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7C2525-A59F-0C6D-E146-E9D2C12EF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680520"/>
            <a:ext cx="8955368" cy="337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 pre-trained word vectors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obtain word vector representations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160CD06-25FD-1814-1F61-5518867994E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824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10D3-DCE3-3F0F-F205-0F079B087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B55356AB-F38F-88DE-171A-7C3F0353CF9D}"/>
              </a:ext>
            </a:extLst>
          </p:cNvPr>
          <p:cNvSpPr txBox="1"/>
          <p:nvPr/>
        </p:nvSpPr>
        <p:spPr>
          <a:xfrm>
            <a:off x="251520" y="1271546"/>
            <a:ext cx="9180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800" dirty="0">
                <a:sym typeface="+mn-ea"/>
              </a:rPr>
              <a:t>(2) Get the word embedding matrix</a:t>
            </a:r>
            <a:endParaRPr lang="zh-CN" altLang="en-US" sz="18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D14B75-5C38-0875-1CDA-4AFEE29E00E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39552" y="1894824"/>
            <a:ext cx="8281962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 err="1"/>
              <a:t>embedding_matrix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np.zeros</a:t>
            </a:r>
            <a:r>
              <a:rPr lang="en-US" altLang="zh-CN" sz="1600" dirty="0"/>
              <a:t>((</a:t>
            </a:r>
            <a:r>
              <a:rPr lang="en-US" altLang="zh-CN" sz="1600" dirty="0" err="1"/>
              <a:t>vocab_size</a:t>
            </a:r>
            <a:r>
              <a:rPr lang="en-US" altLang="zh-CN" sz="1600" dirty="0"/>
              <a:t>, EMBEDDING_DIM)) </a:t>
            </a:r>
          </a:p>
          <a:p>
            <a:r>
              <a:rPr lang="en-US" altLang="zh-CN" sz="1600" dirty="0"/>
              <a:t> # </a:t>
            </a:r>
            <a:r>
              <a:rPr lang="en-US" altLang="zh-CN" sz="1600" dirty="0" err="1"/>
              <a:t>vocab_size</a:t>
            </a:r>
            <a:r>
              <a:rPr lang="en-US" altLang="zh-CN" sz="1600" dirty="0"/>
              <a:t>: training set vocabulary size, EMBEDDING_DIM: word embedding dimension</a:t>
            </a:r>
          </a:p>
          <a:p>
            <a:r>
              <a:rPr lang="en-US" altLang="zh-CN" sz="1600" dirty="0"/>
              <a:t>num = 0</a:t>
            </a:r>
          </a:p>
          <a:p>
            <a:r>
              <a:rPr lang="en-US" altLang="zh-CN" sz="1600" dirty="0"/>
              <a:t>for word, values in </a:t>
            </a:r>
            <a:r>
              <a:rPr lang="en-US" altLang="zh-CN" sz="1600" dirty="0" err="1"/>
              <a:t>embedding_index.items</a:t>
            </a:r>
            <a:r>
              <a:rPr lang="en-US" altLang="zh-CN" sz="1600" dirty="0"/>
              <a:t>():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embedding_vector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embedding_index.get</a:t>
            </a:r>
            <a:r>
              <a:rPr lang="en-US" altLang="zh-CN" sz="1600" dirty="0"/>
              <a:t>(word)  </a:t>
            </a:r>
          </a:p>
          <a:p>
            <a:r>
              <a:rPr lang="en-US" altLang="zh-CN" sz="1600" dirty="0"/>
              <a:t>    # Word embedding vector corresponding to the word</a:t>
            </a:r>
          </a:p>
          <a:p>
            <a:r>
              <a:rPr lang="en-US" altLang="zh-CN" sz="1600" dirty="0"/>
              <a:t>    if </a:t>
            </a:r>
            <a:r>
              <a:rPr lang="en-US" altLang="zh-CN" sz="1600" dirty="0" err="1"/>
              <a:t>embedding_vector</a:t>
            </a:r>
            <a:r>
              <a:rPr lang="en-US" altLang="zh-CN" sz="1600" dirty="0"/>
              <a:t> is not None:</a:t>
            </a:r>
          </a:p>
          <a:p>
            <a:r>
              <a:rPr lang="en-US" altLang="zh-CN" sz="1600" dirty="0"/>
              <a:t>        if num &lt; </a:t>
            </a:r>
            <a:r>
              <a:rPr lang="en-US" altLang="zh-CN" sz="1600" dirty="0" err="1"/>
              <a:t>vocab_size</a:t>
            </a:r>
            <a:r>
              <a:rPr lang="en-US" altLang="zh-CN" sz="1600" dirty="0"/>
              <a:t>:</a:t>
            </a:r>
          </a:p>
          <a:p>
            <a:r>
              <a:rPr lang="en-US" altLang="zh-CN" sz="1600" dirty="0"/>
              <a:t>            </a:t>
            </a:r>
            <a:r>
              <a:rPr lang="en-US" altLang="zh-CN" sz="1600" dirty="0" err="1"/>
              <a:t>embedding_matrix</a:t>
            </a:r>
            <a:r>
              <a:rPr lang="en-US" altLang="zh-CN" sz="1600" dirty="0"/>
              <a:t>[num, :] = </a:t>
            </a:r>
            <a:r>
              <a:rPr lang="en-US" altLang="zh-CN" sz="1600" dirty="0" err="1"/>
              <a:t>embedding_vector</a:t>
            </a:r>
            <a:endParaRPr lang="en-US" altLang="zh-CN" sz="1600" dirty="0"/>
          </a:p>
          <a:p>
            <a:r>
              <a:rPr lang="en-US" altLang="zh-CN" sz="1600" dirty="0"/>
              <a:t>        num += 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FB29C2-F3A6-0E6D-B482-F0D60B7B7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680520"/>
            <a:ext cx="8955368" cy="337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 pre-trained word vectors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obtain word vector representations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5B36C0D-47C4-B816-CFD3-D970F7C3738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Final Project Assignment -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Emotion Analysis</a:t>
            </a:r>
            <a:endParaRPr lang="en-US" altLang="zh-C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463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228878" y="1528850"/>
            <a:ext cx="184337" cy="106849"/>
            <a:chOff x="1620407" y="1473313"/>
            <a:chExt cx="248785" cy="255929"/>
          </a:xfrm>
        </p:grpSpPr>
        <p:sp>
          <p:nvSpPr>
            <p:cNvPr id="18" name="矩形 17"/>
            <p:cNvSpPr/>
            <p:nvPr/>
          </p:nvSpPr>
          <p:spPr>
            <a:xfrm>
              <a:off x="1620407" y="1473313"/>
              <a:ext cx="248785" cy="285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35915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71830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8380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44295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80210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16125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52040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688590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700" dirty="0">
                <a:latin typeface="inpin heiti" charset="-122"/>
                <a:ea typeface="inpin heiti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 rot="16200000">
              <a:off x="1510302" y="1590562"/>
              <a:ext cx="248785" cy="285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35915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71830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8380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44295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80210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16125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52040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688590" algn="l" defTabSz="671830" rtl="0" eaLnBrk="1" latinLnBrk="0" hangingPunct="1">
                <a:defRPr sz="132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700" dirty="0">
                <a:latin typeface="inpin heiti" charset="-122"/>
                <a:ea typeface="inpin heiti" charset="-122"/>
              </a:endParaRPr>
            </a:p>
          </p:txBody>
        </p:sp>
      </p:grpSp>
      <p:sp>
        <p:nvSpPr>
          <p:cNvPr id="2" name="文本框 2"/>
          <p:cNvSpPr txBox="1"/>
          <p:nvPr/>
        </p:nvSpPr>
        <p:spPr>
          <a:xfrm>
            <a:off x="15345" y="79384"/>
            <a:ext cx="6516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591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183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38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29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8021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1612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204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8859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latin typeface="Times New Roman" panose="02020603050405020304" pitchFamily="18" charset="0"/>
                <a:ea typeface="inpin heiti" charset="-122"/>
                <a:cs typeface="Times New Roman" panose="02020603050405020304" pitchFamily="18" charset="0"/>
              </a:rPr>
              <a:t>Presentation and Report Submission Requirements</a:t>
            </a:r>
            <a:r>
              <a:rPr lang="zh-CN" altLang="en-US" sz="2000" b="1" dirty="0">
                <a:latin typeface="Times New Roman" panose="02020603050405020304" pitchFamily="18" charset="0"/>
                <a:ea typeface="inpin heiti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4" name="文本框 2"/>
          <p:cNvSpPr txBox="1"/>
          <p:nvPr/>
        </p:nvSpPr>
        <p:spPr>
          <a:xfrm>
            <a:off x="0" y="699416"/>
            <a:ext cx="3267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591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183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38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29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8021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1612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204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8859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1" dirty="0">
                <a:latin typeface="Times New Roman" panose="02020603050405020304" pitchFamily="18" charset="0"/>
                <a:ea typeface="inpin heiti" charset="-122"/>
                <a:cs typeface="Times New Roman" panose="02020603050405020304" pitchFamily="18" charset="0"/>
              </a:rPr>
              <a:t>1</a:t>
            </a:r>
            <a:r>
              <a:rPr lang="zh-CN" altLang="en-US" sz="1800" b="1" dirty="0">
                <a:latin typeface="Times New Roman" panose="02020603050405020304" pitchFamily="18" charset="0"/>
                <a:ea typeface="inpin heiti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1" dirty="0">
                <a:latin typeface="Times New Roman" panose="02020603050405020304" pitchFamily="18" charset="0"/>
                <a:ea typeface="inpin heiti" charset="-122"/>
                <a:cs typeface="Times New Roman" panose="02020603050405020304" pitchFamily="18" charset="0"/>
              </a:rPr>
              <a:t>Presentation Requirements</a:t>
            </a:r>
          </a:p>
        </p:txBody>
      </p:sp>
      <p:sp>
        <p:nvSpPr>
          <p:cNvPr id="5" name="文本框 2"/>
          <p:cNvSpPr txBox="1"/>
          <p:nvPr/>
        </p:nvSpPr>
        <p:spPr>
          <a:xfrm>
            <a:off x="196562" y="1073312"/>
            <a:ext cx="8856984" cy="168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591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183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38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29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8021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1612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204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8859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Requirements: Conduct individual PPT presentations during Weeks 16-18;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Each student presentation time: 30 minutes;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Presentation should cover the project background, the basic theoretical principles, the experimental, screenshots of experimental results, corresponding analysis, and a conclusion.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same presentation order as</a:t>
            </a:r>
            <a:r>
              <a:rPr lang="zh-CN" altLang="en-US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exercise.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You may adjust the order voluntarily</a:t>
            </a: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but failure to present when called will be considered as automatic forfeiture of the final grade.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23347" y="3364546"/>
            <a:ext cx="8892480" cy="168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591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183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38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29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8021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1612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204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8859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report must be </a:t>
            </a: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submitted before the presentation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 Final Report should be written following the template (</a:t>
            </a: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included in the zip file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(2) Electronic version (</a:t>
            </a: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Word format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should be sent to the teacher’s email (</a:t>
            </a:r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hanyuanwang5@outlook.com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(3) Printed version should be brought to the classroom and handed to the teacher on the day of the presentation.</a:t>
            </a:r>
          </a:p>
        </p:txBody>
      </p:sp>
      <p:sp>
        <p:nvSpPr>
          <p:cNvPr id="6" name="文本框 2"/>
          <p:cNvSpPr txBox="1"/>
          <p:nvPr/>
        </p:nvSpPr>
        <p:spPr>
          <a:xfrm>
            <a:off x="0" y="2976367"/>
            <a:ext cx="3951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591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7183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38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429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8021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16125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204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88590" algn="l" defTabSz="671830" rtl="0" eaLnBrk="1" latinLnBrk="0" hangingPunct="1">
              <a:defRPr sz="13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1" dirty="0">
                <a:latin typeface="Times New Roman" panose="02020603050405020304" pitchFamily="18" charset="0"/>
                <a:ea typeface="inpin heiti" charset="-122"/>
                <a:cs typeface="Times New Roman" panose="02020603050405020304" pitchFamily="18" charset="0"/>
              </a:rPr>
              <a:t>2</a:t>
            </a:r>
            <a:r>
              <a:rPr lang="zh-CN" altLang="en-US" sz="1800" b="1" dirty="0">
                <a:latin typeface="Times New Roman" panose="02020603050405020304" pitchFamily="18" charset="0"/>
                <a:ea typeface="inpin heiti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1" dirty="0">
                <a:latin typeface="Times New Roman" panose="02020603050405020304" pitchFamily="18" charset="0"/>
                <a:ea typeface="inpin heiti" charset="-122"/>
                <a:cs typeface="Times New Roman" panose="02020603050405020304" pitchFamily="18" charset="0"/>
              </a:rPr>
              <a:t>Experimental report requirements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5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4231</TotalTime>
  <Words>1971</Words>
  <Application>Microsoft Office PowerPoint</Application>
  <PresentationFormat>全屏显示(16:9)</PresentationFormat>
  <Paragraphs>221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 Unicode MS</vt:lpstr>
      <vt:lpstr>inpin heiti</vt:lpstr>
      <vt:lpstr>黑体</vt:lpstr>
      <vt:lpstr>微软雅黑</vt:lpstr>
      <vt:lpstr>Arial</vt:lpstr>
      <vt:lpstr>Calibri</vt:lpstr>
      <vt:lpstr>Segoe UI</vt:lpstr>
      <vt:lpstr>Times New Roman</vt:lpstr>
      <vt:lpstr>Wingdings</vt:lpstr>
      <vt:lpstr>5_自定义设计方案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</dc:creator>
  <cp:lastModifiedBy>Haniel Wang</cp:lastModifiedBy>
  <cp:revision>411</cp:revision>
  <dcterms:created xsi:type="dcterms:W3CDTF">2015-06-29T07:19:00Z</dcterms:created>
  <dcterms:modified xsi:type="dcterms:W3CDTF">2025-11-12T08:11:45Z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  <property fmtid="{D5CDD505-2E9C-101B-9397-08002B2CF9AE}" pid="3" name="KSORubyTemplateID">
    <vt:lpwstr>13</vt:lpwstr>
  </property>
</Properties>
</file>